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A1FE37-6F2B-43AE-93DB-DC4C8779AA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7720" y="182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9B0F50-8200-49AB-9771-8ECA906504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EB5F5-9677-4C52-96B1-351AB7FD5A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9A857F-7EDA-4EC2-97A9-C0FEB8349B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D8D62D-F072-4C20-99A5-84C35A450B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7720" y="3646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962AAF-77FB-4C42-8275-534093FF50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3EA3F1-EDFB-4964-89FC-EEDE28650E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AD7AF7-1F4C-4273-A9B4-55FEB3F076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ADA1CC-C706-41B6-8ECB-F8B0BD7826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7720" y="409788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2F97E2-154D-4CF3-9EC8-A4E4FC5CA0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F444B0-9F04-4004-9CED-49913969CE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080" y="182520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8800" y="182520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7720" y="40978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080" y="40978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8800" y="40978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0D652C-A95F-4B51-89D5-E34D5E1358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4157B2-F646-4458-BBF2-88F4E108C9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7720" y="182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41A0D6-8F28-4713-AD82-749EE341E2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565F10-F819-417A-8B62-0EFA5CA917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35FBC4-3DAC-4E5A-A922-8C24DEF6B3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C96347-BECE-425C-BB7D-96D67EF065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7720" y="3646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F324B2-AD67-4CAC-86C6-B387D09D65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81CD2C-9A2C-4A56-ABD4-C339CC47FB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CE676E-2C60-4CC6-B572-868C9E2048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18ADE4-F337-485B-9BCD-4DA43A499E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7720" y="409788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52D394-058F-4D05-8EB7-54D29315B4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6B57FD-3368-46CD-9348-913A9DE35E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080" y="182520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8800" y="182520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7720" y="40978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080" y="40978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8800" y="409788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35686-1831-4B7B-A340-31E3AC11BA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520" y="112212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rgbClr val="000000"/>
                </a:solidFill>
                <a:latin typeface="等线 Light"/>
              </a:rPr>
              <a:t>单击此处</a:t>
            </a:r>
            <a:r>
              <a:rPr b="0" lang="zh-CN" sz="6000" spc="-1" strike="noStrike">
                <a:solidFill>
                  <a:srgbClr val="000000"/>
                </a:solidFill>
                <a:latin typeface="等线 Light"/>
              </a:rPr>
              <a:t>编辑母版</a:t>
            </a:r>
            <a:r>
              <a:rPr b="0" lang="zh-CN" sz="6000" spc="-1" strike="noStrike">
                <a:solidFill>
                  <a:srgbClr val="000000"/>
                </a:solidFill>
                <a:latin typeface="等线 Light"/>
              </a:rPr>
              <a:t>标题样式</a:t>
            </a:r>
            <a:endParaRPr b="0" lang="en-US" sz="60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7720" y="635616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等线"/>
              </a:rPr>
              <a:t>&lt;日期/时间&gt;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09760" y="635616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E5B4AC-27F4-4E1F-8FA3-677435C52BCA}" type="slidenum">
              <a:rPr b="0" lang="en-US" sz="1200" spc="-1" strike="noStrike">
                <a:solidFill>
                  <a:srgbClr val="8b8b8b"/>
                </a:solidFill>
                <a:latin typeface="等线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16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pc="-1" strike="noStrike">
                <a:solidFill>
                  <a:srgbClr val="000000"/>
                </a:solidFill>
                <a:latin typeface="等线"/>
              </a:rPr>
              <a:t>点击以编辑提纲文本格式</a:t>
            </a: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等线"/>
              </a:rPr>
              <a:t>第二提纲级别</a:t>
            </a:r>
            <a:endParaRPr b="0" lang="en-US" sz="2000" spc="-1" strike="noStrike">
              <a:solidFill>
                <a:srgbClr val="000000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等线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等线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等线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等线 Light"/>
              </a:rPr>
              <a:t>单击此</a:t>
            </a:r>
            <a:r>
              <a:rPr b="0" lang="zh-CN" sz="4400" spc="-1" strike="noStrike">
                <a:solidFill>
                  <a:srgbClr val="000000"/>
                </a:solidFill>
                <a:latin typeface="等线 Light"/>
              </a:rPr>
              <a:t>处编辑</a:t>
            </a:r>
            <a:r>
              <a:rPr b="0" lang="zh-CN" sz="4400" spc="-1" strike="noStrike">
                <a:solidFill>
                  <a:srgbClr val="000000"/>
                </a:solidFill>
                <a:latin typeface="等线 Light"/>
              </a:rPr>
              <a:t>母版标</a:t>
            </a:r>
            <a:r>
              <a:rPr b="0" lang="zh-CN" sz="4400" spc="-1" strike="noStrike">
                <a:solidFill>
                  <a:srgbClr val="000000"/>
                </a:solidFill>
                <a:latin typeface="等线 Light"/>
              </a:rPr>
              <a:t>题样式</a:t>
            </a:r>
            <a:endParaRPr b="0" lang="en-US" sz="44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7720" y="182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rgbClr val="000000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rgbClr val="000000"/>
              </a:solidFill>
              <a:latin typeface="等线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rgbClr val="000000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rgbClr val="000000"/>
              </a:solidFill>
              <a:latin typeface="等线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000000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rgbClr val="000000"/>
              </a:solidFill>
              <a:latin typeface="等线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7720" y="635616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等线"/>
              </a:rPr>
              <a:t>&lt;日期/时间&gt;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120" y="6356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09760" y="635616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46FD31-177D-456B-AEC7-E9F024791C08}" type="slidenum">
              <a:rPr b="0" lang="en-US" sz="1200" spc="-1" strike="noStrike">
                <a:solidFill>
                  <a:srgbClr val="8b8b8b"/>
                </a:solidFill>
                <a:latin typeface="等线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1"/>
          <p:cNvSpPr/>
          <p:nvPr/>
        </p:nvSpPr>
        <p:spPr>
          <a:xfrm>
            <a:off x="599040" y="788760"/>
            <a:ext cx="4330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可以解码不同的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平均朝向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(DataSet3)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83" name="图片 4" descr=""/>
          <p:cNvPicPr/>
          <p:nvPr/>
        </p:nvPicPr>
        <p:blipFill>
          <a:blip r:embed="rId1"/>
          <a:stretch/>
        </p:blipFill>
        <p:spPr>
          <a:xfrm>
            <a:off x="3502440" y="1772640"/>
            <a:ext cx="1658880" cy="2864520"/>
          </a:xfrm>
          <a:prstGeom prst="rect">
            <a:avLst/>
          </a:prstGeom>
          <a:ln w="0">
            <a:noFill/>
          </a:ln>
        </p:spPr>
      </p:pic>
      <p:sp>
        <p:nvSpPr>
          <p:cNvPr id="84" name="文本框 13"/>
          <p:cNvSpPr/>
          <p:nvPr/>
        </p:nvSpPr>
        <p:spPr>
          <a:xfrm>
            <a:off x="1050840" y="3851640"/>
            <a:ext cx="224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1.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减弱数据的信噪比后，会降低解码正确率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文本框 15"/>
          <p:cNvSpPr/>
          <p:nvPr/>
        </p:nvSpPr>
        <p:spPr>
          <a:xfrm>
            <a:off x="1510200" y="1386360"/>
            <a:ext cx="108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5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组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文本框 16"/>
          <p:cNvSpPr/>
          <p:nvPr/>
        </p:nvSpPr>
        <p:spPr>
          <a:xfrm>
            <a:off x="3772800" y="1303560"/>
            <a:ext cx="108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15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组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文本框 17"/>
          <p:cNvSpPr/>
          <p:nvPr/>
        </p:nvSpPr>
        <p:spPr>
          <a:xfrm>
            <a:off x="374760" y="169920"/>
            <a:ext cx="7383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从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图片的反应中，很难分辨出个体信息，可以分辨整体平均朝向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616320" y="4897080"/>
            <a:ext cx="2890800" cy="149076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3"/>
          <a:srcRect l="26025" t="42863" r="65293" b="43041"/>
          <a:stretch/>
        </p:blipFill>
        <p:spPr>
          <a:xfrm>
            <a:off x="3507120" y="4951800"/>
            <a:ext cx="1569240" cy="1313280"/>
          </a:xfrm>
          <a:prstGeom prst="rect">
            <a:avLst/>
          </a:prstGeom>
          <a:ln w="0">
            <a:noFill/>
          </a:ln>
        </p:spPr>
      </p:pic>
      <p:pic>
        <p:nvPicPr>
          <p:cNvPr id="90" name="图片 6" descr=""/>
          <p:cNvPicPr/>
          <p:nvPr/>
        </p:nvPicPr>
        <p:blipFill>
          <a:blip r:embed="rId4"/>
          <a:stretch/>
        </p:blipFill>
        <p:spPr>
          <a:xfrm>
            <a:off x="918360" y="1844640"/>
            <a:ext cx="2265120" cy="185796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536760" y="4694760"/>
            <a:ext cx="48596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文本框 21"/>
          <p:cNvSpPr/>
          <p:nvPr/>
        </p:nvSpPr>
        <p:spPr>
          <a:xfrm>
            <a:off x="3351600" y="6031440"/>
            <a:ext cx="2234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2.LFP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结果类似，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EC/EC0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条件更早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27640" y="5108760"/>
            <a:ext cx="127332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文本框 23"/>
          <p:cNvSpPr/>
          <p:nvPr/>
        </p:nvSpPr>
        <p:spPr>
          <a:xfrm>
            <a:off x="3772800" y="1303560"/>
            <a:ext cx="108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15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组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文本框 24"/>
          <p:cNvSpPr/>
          <p:nvPr/>
        </p:nvSpPr>
        <p:spPr>
          <a:xfrm>
            <a:off x="490680" y="4897440"/>
            <a:ext cx="430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等线"/>
              </a:rPr>
              <a:t>18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文本框 25"/>
          <p:cNvSpPr/>
          <p:nvPr/>
        </p:nvSpPr>
        <p:spPr>
          <a:xfrm>
            <a:off x="487440" y="1959840"/>
            <a:ext cx="430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等线"/>
              </a:rPr>
              <a:t>50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04600" y="2202120"/>
            <a:ext cx="127332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文本框 26"/>
          <p:cNvSpPr/>
          <p:nvPr/>
        </p:nvSpPr>
        <p:spPr>
          <a:xfrm>
            <a:off x="8260200" y="774720"/>
            <a:ext cx="2812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是否可以分离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和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851440" y="3511080"/>
            <a:ext cx="13014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文本框 27"/>
          <p:cNvSpPr/>
          <p:nvPr/>
        </p:nvSpPr>
        <p:spPr>
          <a:xfrm>
            <a:off x="5380200" y="2962080"/>
            <a:ext cx="2265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是否先表征整体信息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5"/>
          <a:stretch/>
        </p:blipFill>
        <p:spPr>
          <a:xfrm>
            <a:off x="7593120" y="3706560"/>
            <a:ext cx="1929960" cy="13982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6"/>
          <a:stretch/>
        </p:blipFill>
        <p:spPr>
          <a:xfrm>
            <a:off x="9592200" y="3660480"/>
            <a:ext cx="1951200" cy="14634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7"/>
          <a:stretch/>
        </p:blipFill>
        <p:spPr>
          <a:xfrm>
            <a:off x="7770600" y="1183320"/>
            <a:ext cx="3580200" cy="1846080"/>
          </a:xfrm>
          <a:prstGeom prst="rect">
            <a:avLst/>
          </a:prstGeom>
          <a:ln w="0">
            <a:noFill/>
          </a:ln>
        </p:spPr>
      </p:pic>
      <p:sp>
        <p:nvSpPr>
          <p:cNvPr id="104" name="文本框 28"/>
          <p:cNvSpPr/>
          <p:nvPr/>
        </p:nvSpPr>
        <p:spPr>
          <a:xfrm>
            <a:off x="7749720" y="5223960"/>
            <a:ext cx="37940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采用相似性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矩阵发现后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期条件更加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分离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918920" y="3349440"/>
            <a:ext cx="322056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文本框 29"/>
          <p:cNvSpPr/>
          <p:nvPr/>
        </p:nvSpPr>
        <p:spPr>
          <a:xfrm>
            <a:off x="7826760" y="2875680"/>
            <a:ext cx="35802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但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和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EC0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平均响应幅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值没有显著差异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7" name="文本框 30"/>
          <p:cNvSpPr/>
          <p:nvPr/>
        </p:nvSpPr>
        <p:spPr>
          <a:xfrm>
            <a:off x="8049960" y="6123600"/>
            <a:ext cx="34333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存在时间动态上的表征差异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745560" y="5672520"/>
            <a:ext cx="10800" cy="451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图片 7" descr=""/>
          <p:cNvPicPr/>
          <p:nvPr/>
        </p:nvPicPr>
        <p:blipFill>
          <a:blip r:embed="rId1"/>
          <a:stretch/>
        </p:blipFill>
        <p:spPr>
          <a:xfrm>
            <a:off x="555120" y="1734120"/>
            <a:ext cx="6116400" cy="3148560"/>
          </a:xfrm>
          <a:prstGeom prst="rect">
            <a:avLst/>
          </a:prstGeom>
          <a:ln w="0">
            <a:noFill/>
          </a:ln>
        </p:spPr>
      </p:pic>
      <p:sp>
        <p:nvSpPr>
          <p:cNvPr id="110" name="文本框 11"/>
          <p:cNvSpPr/>
          <p:nvPr/>
        </p:nvSpPr>
        <p:spPr>
          <a:xfrm>
            <a:off x="1183320" y="871560"/>
            <a:ext cx="8885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解码同一个平均朝向下的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图片组合：早晚期差别不大，十分微弱。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文本框 13"/>
          <p:cNvSpPr/>
          <p:nvPr/>
        </p:nvSpPr>
        <p:spPr>
          <a:xfrm>
            <a:off x="676800" y="5189760"/>
            <a:ext cx="247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每个朝向 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15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组数据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文本框 14"/>
          <p:cNvSpPr/>
          <p:nvPr/>
        </p:nvSpPr>
        <p:spPr>
          <a:xfrm>
            <a:off x="375120" y="169920"/>
            <a:ext cx="5298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从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图片的反应中，很难分辨出个体信息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3" name="图片 10" descr=""/>
          <p:cNvPicPr/>
          <p:nvPr/>
        </p:nvPicPr>
        <p:blipFill>
          <a:blip r:embed="rId2"/>
          <a:stretch/>
        </p:blipFill>
        <p:spPr>
          <a:xfrm>
            <a:off x="7256880" y="1725120"/>
            <a:ext cx="1389960" cy="2297520"/>
          </a:xfrm>
          <a:prstGeom prst="rect">
            <a:avLst/>
          </a:prstGeom>
          <a:ln w="0">
            <a:noFill/>
          </a:ln>
        </p:spPr>
      </p:pic>
      <p:sp>
        <p:nvSpPr>
          <p:cNvPr id="114" name="文本框 12"/>
          <p:cNvSpPr/>
          <p:nvPr/>
        </p:nvSpPr>
        <p:spPr>
          <a:xfrm>
            <a:off x="8993160" y="1454400"/>
            <a:ext cx="1905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对比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5" name="图片 12" descr=""/>
          <p:cNvPicPr/>
          <p:nvPr/>
        </p:nvPicPr>
        <p:blipFill>
          <a:blip r:embed="rId3"/>
          <a:stretch/>
        </p:blipFill>
        <p:spPr>
          <a:xfrm>
            <a:off x="8789760" y="1920600"/>
            <a:ext cx="2288520" cy="2046960"/>
          </a:xfrm>
          <a:prstGeom prst="rect">
            <a:avLst/>
          </a:prstGeom>
          <a:ln w="0">
            <a:noFill/>
          </a:ln>
        </p:spPr>
      </p:pic>
      <p:pic>
        <p:nvPicPr>
          <p:cNvPr id="116" name="图片 17" descr=""/>
          <p:cNvPicPr/>
          <p:nvPr/>
        </p:nvPicPr>
        <p:blipFill>
          <a:blip r:embed="rId4"/>
          <a:stretch/>
        </p:blipFill>
        <p:spPr>
          <a:xfrm>
            <a:off x="7257600" y="4120560"/>
            <a:ext cx="3754800" cy="208692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6945120" y="1311840"/>
            <a:ext cx="0" cy="47476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文本框 31"/>
          <p:cNvSpPr/>
          <p:nvPr/>
        </p:nvSpPr>
        <p:spPr>
          <a:xfrm>
            <a:off x="676800" y="5189760"/>
            <a:ext cx="247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每个朝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向 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15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组数据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9" name="文本框 32"/>
          <p:cNvSpPr/>
          <p:nvPr/>
        </p:nvSpPr>
        <p:spPr>
          <a:xfrm>
            <a:off x="3839040" y="5463360"/>
            <a:ext cx="2931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结果的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不明显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可能是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由于第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三批数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据每个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pattern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的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repeat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过少。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945120" y="1235520"/>
            <a:ext cx="360" cy="51519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21"/>
          <p:cNvGrpSpPr/>
          <p:nvPr/>
        </p:nvGrpSpPr>
        <p:grpSpPr>
          <a:xfrm>
            <a:off x="374760" y="1197000"/>
            <a:ext cx="11230920" cy="5238720"/>
            <a:chOff x="374760" y="1197000"/>
            <a:chExt cx="11230920" cy="5238720"/>
          </a:xfrm>
        </p:grpSpPr>
        <p:sp>
          <p:nvSpPr>
            <p:cNvPr id="122" name="文本框 4"/>
            <p:cNvSpPr/>
            <p:nvPr/>
          </p:nvSpPr>
          <p:spPr>
            <a:xfrm>
              <a:off x="2625840" y="2109960"/>
              <a:ext cx="34225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D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a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t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a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S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e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t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2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t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o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D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a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t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a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S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e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t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1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23" name="文本框 5"/>
            <p:cNvSpPr/>
            <p:nvPr/>
          </p:nvSpPr>
          <p:spPr>
            <a:xfrm>
              <a:off x="8182080" y="2109960"/>
              <a:ext cx="34236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DataSet1 to DataSet1</a:t>
              </a:r>
              <a:endParaRPr b="0" lang="en-US" sz="1800" spc="-1" strike="noStrike">
                <a:latin typeface="Arial"/>
              </a:endParaRPr>
            </a:p>
          </p:txBody>
        </p:sp>
        <p:grpSp>
          <p:nvGrpSpPr>
            <p:cNvPr id="124" name="组合 19"/>
            <p:cNvGrpSpPr/>
            <p:nvPr/>
          </p:nvGrpSpPr>
          <p:grpSpPr>
            <a:xfrm>
              <a:off x="374760" y="1197000"/>
              <a:ext cx="11171880" cy="5238720"/>
              <a:chOff x="374760" y="1197000"/>
              <a:chExt cx="11171880" cy="5238720"/>
            </a:xfrm>
          </p:grpSpPr>
          <p:pic>
            <p:nvPicPr>
              <p:cNvPr id="125" name="图片 3" descr=""/>
              <p:cNvPicPr/>
              <p:nvPr/>
            </p:nvPicPr>
            <p:blipFill>
              <a:blip r:embed="rId1"/>
              <a:srcRect l="0" t="0" r="53367" b="49480"/>
              <a:stretch/>
            </p:blipFill>
            <p:spPr>
              <a:xfrm>
                <a:off x="7845480" y="3458520"/>
                <a:ext cx="3701160" cy="2977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6" name="图片 7" descr=""/>
              <p:cNvPicPr/>
              <p:nvPr/>
            </p:nvPicPr>
            <p:blipFill>
              <a:blip r:embed="rId2"/>
              <a:stretch/>
            </p:blipFill>
            <p:spPr>
              <a:xfrm>
                <a:off x="374760" y="2673000"/>
                <a:ext cx="7053480" cy="37119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27" name="文本框 8"/>
              <p:cNvSpPr/>
              <p:nvPr/>
            </p:nvSpPr>
            <p:spPr>
              <a:xfrm>
                <a:off x="3411000" y="1197000"/>
                <a:ext cx="7502040" cy="51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DataSet2 to Dataset </a:t>
                </a: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1 :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模型解</a:t>
                </a: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EC/EC0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，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晚期</a:t>
                </a: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(60-80ms)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正确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率高；</a:t>
                </a:r>
                <a:endParaRPr b="0" lang="en-US" sz="14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DataSet1 to Dataset 1: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真实</a:t>
                </a: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EC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解</a:t>
                </a: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EC/EC0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，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早期（</a:t>
                </a:r>
                <a:r>
                  <a:rPr b="0" lang="en-US" sz="1400" spc="-1" strike="noStrike">
                    <a:solidFill>
                      <a:srgbClr val="000000"/>
                    </a:solidFill>
                    <a:latin typeface="等线"/>
                  </a:rPr>
                  <a:t>40-60ms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）正</a:t>
                </a:r>
                <a:r>
                  <a:rPr b="0" lang="zh-CN" sz="1400" spc="-1" strike="noStrike">
                    <a:solidFill>
                      <a:srgbClr val="000000"/>
                    </a:solidFill>
                    <a:latin typeface="等线"/>
                  </a:rPr>
                  <a:t>确率高。</a:t>
                </a:r>
                <a:endParaRPr b="0" lang="en-US" sz="1400" spc="-1" strike="noStrike">
                  <a:latin typeface="Arial"/>
                </a:endParaRPr>
              </a:p>
            </p:txBody>
          </p:sp>
          <p:sp>
            <p:nvSpPr>
              <p:cNvPr id="128" name="直接箭头连接符 10"/>
              <p:cNvSpPr/>
              <p:nvPr/>
            </p:nvSpPr>
            <p:spPr>
              <a:xfrm flipH="1">
                <a:off x="5421240" y="1869480"/>
                <a:ext cx="933840" cy="1787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rgbClr val="000000"/>
                </a:solidFill>
                <a:tailEnd len="med" type="triangle" w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/>
            </p:style>
          </p:sp>
          <p:sp>
            <p:nvSpPr>
              <p:cNvPr id="129" name="直接箭头连接符 11"/>
              <p:cNvSpPr/>
              <p:nvPr/>
            </p:nvSpPr>
            <p:spPr>
              <a:xfrm>
                <a:off x="6494400" y="1816560"/>
                <a:ext cx="2485080" cy="2620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rgbClr val="4472c4"/>
                </a:solidFill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30" name="直接箭头连接符 15"/>
              <p:cNvSpPr/>
              <p:nvPr/>
            </p:nvSpPr>
            <p:spPr>
              <a:xfrm flipH="1">
                <a:off x="5184000" y="1869480"/>
                <a:ext cx="969480" cy="1787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rgbClr val="4472c4"/>
                </a:solidFill>
                <a:tailEnd len="med" type="triangle" w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31" name="直接箭头连接符 17"/>
              <p:cNvSpPr/>
              <p:nvPr/>
            </p:nvSpPr>
            <p:spPr>
              <a:xfrm>
                <a:off x="6869520" y="1816560"/>
                <a:ext cx="2526840" cy="2636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rgbClr val="000000"/>
                </a:solidFill>
                <a:tailEnd len="med" type="triangle" w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/>
            </p:style>
          </p:sp>
        </p:grpSp>
      </p:grpSp>
      <p:sp>
        <p:nvSpPr>
          <p:cNvPr id="132" name="文本框 22"/>
          <p:cNvSpPr/>
          <p:nvPr/>
        </p:nvSpPr>
        <p:spPr>
          <a:xfrm>
            <a:off x="374760" y="169920"/>
            <a:ext cx="4659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个体信息（重构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EC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）主要在晚期出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</a:rPr>
              <a:t>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" name="文本框 13"/>
          <p:cNvSpPr/>
          <p:nvPr/>
        </p:nvSpPr>
        <p:spPr>
          <a:xfrm>
            <a:off x="503640" y="678600"/>
            <a:ext cx="89791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Model EC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（个体信息） 解码 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model EC/Real EC 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（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DataSet2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）和 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EC/EC0/SC/SSC 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（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DataSet1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） 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文本框 1"/>
          <p:cNvSpPr/>
          <p:nvPr/>
        </p:nvSpPr>
        <p:spPr>
          <a:xfrm>
            <a:off x="527040" y="1242720"/>
            <a:ext cx="89791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Real –Model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（残差） 解码 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model EC/Real EC 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（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DataSet2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）和 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EC/EC0/SC/SSC 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（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</a:rPr>
              <a:t>DataSet1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</a:rPr>
              <a:t>） 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35" name="组合 11"/>
          <p:cNvGrpSpPr/>
          <p:nvPr/>
        </p:nvGrpSpPr>
        <p:grpSpPr>
          <a:xfrm>
            <a:off x="1142280" y="177480"/>
            <a:ext cx="9401760" cy="6386760"/>
            <a:chOff x="1142280" y="177480"/>
            <a:chExt cx="9401760" cy="6386760"/>
          </a:xfrm>
        </p:grpSpPr>
        <p:pic>
          <p:nvPicPr>
            <p:cNvPr id="136" name="图片 3" descr=""/>
            <p:cNvPicPr/>
            <p:nvPr/>
          </p:nvPicPr>
          <p:blipFill>
            <a:blip r:embed="rId1"/>
            <a:stretch/>
          </p:blipFill>
          <p:spPr>
            <a:xfrm>
              <a:off x="1142280" y="1692360"/>
              <a:ext cx="9401760" cy="4871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7" name="文本框 4"/>
            <p:cNvSpPr/>
            <p:nvPr/>
          </p:nvSpPr>
          <p:spPr>
            <a:xfrm>
              <a:off x="4301280" y="177480"/>
              <a:ext cx="6084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整体信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息（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EC-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重构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EC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）在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早期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（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40-</a:t>
              </a:r>
              <a:r>
                <a:rPr b="0" lang="en-US" sz="1800" spc="-1" strike="noStrike">
                  <a:solidFill>
                    <a:srgbClr val="000000"/>
                  </a:solidFill>
                  <a:latin typeface="等线"/>
                </a:rPr>
                <a:t>60ms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）</a:t>
              </a:r>
              <a:r>
                <a:rPr b="0" lang="zh-CN" sz="1800" spc="-1" strike="noStrike">
                  <a:solidFill>
                    <a:srgbClr val="000000"/>
                  </a:solidFill>
                  <a:latin typeface="等线"/>
                </a:rPr>
                <a:t>出现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38" name="直接箭头连接符 6"/>
            <p:cNvSpPr/>
            <p:nvPr/>
          </p:nvSpPr>
          <p:spPr>
            <a:xfrm>
              <a:off x="6991920" y="546840"/>
              <a:ext cx="2021760" cy="2776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4472c4"/>
              </a:solidFill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3"/>
          <p:cNvSpPr/>
          <p:nvPr/>
        </p:nvSpPr>
        <p:spPr>
          <a:xfrm>
            <a:off x="860760" y="4446000"/>
            <a:ext cx="32493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对第二批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Patch 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构建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解码第一批数据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0" name="文本框 10"/>
          <p:cNvSpPr/>
          <p:nvPr/>
        </p:nvSpPr>
        <p:spPr>
          <a:xfrm>
            <a:off x="7455240" y="4353480"/>
            <a:ext cx="32493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对第三批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Patch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构建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EC0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解码第二批数据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1" name="图片 2" descr=""/>
          <p:cNvPicPr/>
          <p:nvPr/>
        </p:nvPicPr>
        <p:blipFill>
          <a:blip r:embed="rId1"/>
          <a:stretch/>
        </p:blipFill>
        <p:spPr>
          <a:xfrm>
            <a:off x="380520" y="956520"/>
            <a:ext cx="5276160" cy="2918520"/>
          </a:xfrm>
          <a:prstGeom prst="rect">
            <a:avLst/>
          </a:prstGeom>
          <a:ln w="0">
            <a:noFill/>
          </a:ln>
        </p:spPr>
      </p:pic>
      <p:pic>
        <p:nvPicPr>
          <p:cNvPr id="142" name="图片 5" descr=""/>
          <p:cNvPicPr/>
          <p:nvPr/>
        </p:nvPicPr>
        <p:blipFill>
          <a:blip r:embed="rId2"/>
          <a:stretch/>
        </p:blipFill>
        <p:spPr>
          <a:xfrm>
            <a:off x="6218640" y="813240"/>
            <a:ext cx="5276160" cy="291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文本框 18"/>
          <p:cNvSpPr/>
          <p:nvPr/>
        </p:nvSpPr>
        <p:spPr>
          <a:xfrm>
            <a:off x="1487880" y="5321880"/>
            <a:ext cx="8888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用于对照做了真实的整体解码个体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文本框 19"/>
          <p:cNvSpPr/>
          <p:nvPr/>
        </p:nvSpPr>
        <p:spPr>
          <a:xfrm>
            <a:off x="860040" y="4446000"/>
            <a:ext cx="364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对第二批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解码第一批数据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5" name="文本框 20"/>
          <p:cNvSpPr/>
          <p:nvPr/>
        </p:nvSpPr>
        <p:spPr>
          <a:xfrm>
            <a:off x="7455240" y="4353480"/>
            <a:ext cx="364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对第三批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EC0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解码第二批数据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6" name="图片 8" descr=""/>
          <p:cNvPicPr/>
          <p:nvPr/>
        </p:nvPicPr>
        <p:blipFill>
          <a:blip r:embed="rId1"/>
          <a:stretch/>
        </p:blipFill>
        <p:spPr>
          <a:xfrm>
            <a:off x="6242400" y="812880"/>
            <a:ext cx="5516280" cy="3051360"/>
          </a:xfrm>
          <a:prstGeom prst="rect">
            <a:avLst/>
          </a:prstGeom>
          <a:ln w="0">
            <a:noFill/>
          </a:ln>
        </p:spPr>
      </p:pic>
      <p:pic>
        <p:nvPicPr>
          <p:cNvPr id="147" name="图片 9" descr=""/>
          <p:cNvPicPr/>
          <p:nvPr/>
        </p:nvPicPr>
        <p:blipFill>
          <a:blip r:embed="rId2"/>
          <a:stretch/>
        </p:blipFill>
        <p:spPr>
          <a:xfrm>
            <a:off x="101520" y="798120"/>
            <a:ext cx="5516280" cy="306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图片 1" descr=""/>
          <p:cNvPicPr/>
          <p:nvPr/>
        </p:nvPicPr>
        <p:blipFill>
          <a:blip r:embed="rId1"/>
          <a:stretch/>
        </p:blipFill>
        <p:spPr>
          <a:xfrm>
            <a:off x="223920" y="956520"/>
            <a:ext cx="5361840" cy="3012480"/>
          </a:xfrm>
          <a:prstGeom prst="rect">
            <a:avLst/>
          </a:prstGeom>
          <a:ln w="0">
            <a:noFill/>
          </a:ln>
        </p:spPr>
      </p:pic>
      <p:sp>
        <p:nvSpPr>
          <p:cNvPr id="149" name="文本框 6"/>
          <p:cNvSpPr/>
          <p:nvPr/>
        </p:nvSpPr>
        <p:spPr>
          <a:xfrm>
            <a:off x="1487880" y="5321880"/>
            <a:ext cx="88884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对第二批数据的解码，用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patch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构建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做交叉解码，和师姐结果相似，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由于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trial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类型太少，基线部分不够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random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，无法降到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chance level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，在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时间程上似乎与第三批构建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EC0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结果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相似，整体条件早于个体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0" name="Google Shape;152;p 2" descr=""/>
          <p:cNvPicPr/>
          <p:nvPr/>
        </p:nvPicPr>
        <p:blipFill>
          <a:blip r:embed="rId2"/>
          <a:stretch/>
        </p:blipFill>
        <p:spPr>
          <a:xfrm>
            <a:off x="6095160" y="956520"/>
            <a:ext cx="5053320" cy="3012480"/>
          </a:xfrm>
          <a:prstGeom prst="rect">
            <a:avLst/>
          </a:prstGeom>
          <a:ln w="0">
            <a:noFill/>
          </a:ln>
        </p:spPr>
      </p:pic>
      <p:sp>
        <p:nvSpPr>
          <p:cNvPr id="151" name="文本框 7"/>
          <p:cNvSpPr/>
          <p:nvPr/>
        </p:nvSpPr>
        <p:spPr>
          <a:xfrm>
            <a:off x="860760" y="4445640"/>
            <a:ext cx="3249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第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二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批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P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at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ch 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构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建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2" name="文本框 9"/>
          <p:cNvSpPr/>
          <p:nvPr/>
        </p:nvSpPr>
        <p:spPr>
          <a:xfrm>
            <a:off x="7455240" y="4353120"/>
            <a:ext cx="3249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对第三批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Patch </a:t>
            </a:r>
            <a:r>
              <a:rPr b="1" lang="zh-CN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构建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宋体"/>
              </a:rPr>
              <a:t>EC0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  <Words>199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2025-01-17T06:41:32Z</dcterms:created>
  <dc:creator>Yange</dc:creator>
  <dc:description/>
  <dc:language>zh-CN</dc:language>
  <cp:lastModifiedBy/>
  <dcterms:modified xsi:type="dcterms:W3CDTF">2025-01-17T17:00:12Z</dcterms:modified>
  <cp:revision>3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i4>5</vt:i4>
  </property>
</Properties>
</file>